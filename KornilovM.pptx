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sldIdLst>
    <p:sldId id="256" r:id="rId2"/>
    <p:sldId id="272" r:id="rId3"/>
    <p:sldId id="27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39EC-2981-437C-9B7D-F284E38C369B}" type="datetimeFigureOut">
              <a:rPr lang="ru-RU" smtClean="0"/>
              <a:pPr/>
              <a:t>28.11.2023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9DE-1CF7-4A9D-B25C-556A7ADD60E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9061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39EC-2981-437C-9B7D-F284E38C369B}" type="datetimeFigureOut">
              <a:rPr lang="ru-RU" smtClean="0"/>
              <a:pPr/>
              <a:t>28.11.2023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9DE-1CF7-4A9D-B25C-556A7ADD60E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52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39EC-2981-437C-9B7D-F284E38C369B}" type="datetimeFigureOut">
              <a:rPr lang="ru-RU" smtClean="0"/>
              <a:pPr/>
              <a:t>28.11.2023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9DE-1CF7-4A9D-B25C-556A7ADD60E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67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39EC-2981-437C-9B7D-F284E38C369B}" type="datetimeFigureOut">
              <a:rPr lang="ru-RU" smtClean="0"/>
              <a:pPr/>
              <a:t>28.11.2023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9DE-1CF7-4A9D-B25C-556A7ADD60E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3124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39EC-2981-437C-9B7D-F284E38C369B}" type="datetimeFigureOut">
              <a:rPr lang="ru-RU" smtClean="0"/>
              <a:pPr/>
              <a:t>28.11.2023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9DE-1CF7-4A9D-B25C-556A7ADD60E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9445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39EC-2981-437C-9B7D-F284E38C369B}" type="datetimeFigureOut">
              <a:rPr lang="ru-RU" smtClean="0"/>
              <a:pPr/>
              <a:t>28.11.2023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9DE-1CF7-4A9D-B25C-556A7ADD60E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320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39EC-2981-437C-9B7D-F284E38C369B}" type="datetimeFigureOut">
              <a:rPr lang="ru-RU" smtClean="0"/>
              <a:pPr/>
              <a:t>28.11.2023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9DE-1CF7-4A9D-B25C-556A7ADD60E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6809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39EC-2981-437C-9B7D-F284E38C369B}" type="datetimeFigureOut">
              <a:rPr lang="ru-RU" smtClean="0"/>
              <a:pPr/>
              <a:t>28.11.2023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9DE-1CF7-4A9D-B25C-556A7ADD60E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88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39EC-2981-437C-9B7D-F284E38C369B}" type="datetimeFigureOut">
              <a:rPr lang="ru-RU" smtClean="0"/>
              <a:pPr/>
              <a:t>28.11.2023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9DE-1CF7-4A9D-B25C-556A7ADD60E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725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39EC-2981-437C-9B7D-F284E38C369B}" type="datetimeFigureOut">
              <a:rPr lang="ru-RU" smtClean="0"/>
              <a:pPr/>
              <a:t>28.11.2023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9DE-1CF7-4A9D-B25C-556A7ADD60E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5015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39EC-2981-437C-9B7D-F284E38C369B}" type="datetimeFigureOut">
              <a:rPr lang="ru-RU" smtClean="0"/>
              <a:pPr/>
              <a:t>28.11.2023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9DE-1CF7-4A9D-B25C-556A7ADD60E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1293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39EC-2981-437C-9B7D-F284E38C369B}" type="datetimeFigureOut">
              <a:rPr lang="ru-RU" smtClean="0"/>
              <a:pPr/>
              <a:t>28.11.2023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9DE-1CF7-4A9D-B25C-556A7ADD60E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3490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39EC-2981-437C-9B7D-F284E38C369B}" type="datetimeFigureOut">
              <a:rPr lang="ru-RU" smtClean="0"/>
              <a:pPr/>
              <a:t>28.11.2023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9DE-1CF7-4A9D-B25C-556A7ADD60E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03733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39EC-2981-437C-9B7D-F284E38C369B}" type="datetimeFigureOut">
              <a:rPr lang="ru-RU" smtClean="0"/>
              <a:pPr/>
              <a:t>28.11.2023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9DE-1CF7-4A9D-B25C-556A7ADD60E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015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39EC-2981-437C-9B7D-F284E38C369B}" type="datetimeFigureOut">
              <a:rPr lang="ru-RU" smtClean="0"/>
              <a:pPr/>
              <a:t>28.11.2023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9DE-1CF7-4A9D-B25C-556A7ADD60E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3782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639EC-2981-437C-9B7D-F284E38C369B}" type="datetimeFigureOut">
              <a:rPr lang="ru-RU" smtClean="0"/>
              <a:pPr/>
              <a:t>28.11.2023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419DE-1CF7-4A9D-B25C-556A7ADD60E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574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639EC-2981-437C-9B7D-F284E38C369B}" type="datetimeFigureOut">
              <a:rPr lang="ru-RU" smtClean="0"/>
              <a:pPr/>
              <a:t>28.11.2023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5B419DE-1CF7-4A9D-B25C-556A7ADD60E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996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  <p:sldLayoutId id="2147483937" r:id="rId13"/>
    <p:sldLayoutId id="2147483938" r:id="rId14"/>
    <p:sldLayoutId id="2147483939" r:id="rId15"/>
    <p:sldLayoutId id="214748394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  <a:alpha val="8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6251676" cy="1096899"/>
          </a:xfrm>
        </p:spPr>
        <p:txBody>
          <a:bodyPr>
            <a:noAutofit/>
          </a:bodyPr>
          <a:lstStyle/>
          <a:p>
            <a:r>
              <a:rPr lang="ru-RU" sz="2800" dirty="0"/>
              <a:t>Выполнил</a:t>
            </a:r>
          </a:p>
          <a:p>
            <a:r>
              <a:rPr lang="ru-RU" sz="2800" dirty="0"/>
              <a:t>Студент группы ИСП-321 </a:t>
            </a:r>
          </a:p>
          <a:p>
            <a:r>
              <a:rPr lang="ru-RU" sz="2800" dirty="0"/>
              <a:t>Корнилов Михаил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6E9568-E40C-48FC-8099-D90ABC0DD946}"/>
              </a:ext>
            </a:extLst>
          </p:cNvPr>
          <p:cNvSpPr txBox="1">
            <a:spLocks/>
          </p:cNvSpPr>
          <p:nvPr/>
        </p:nvSpPr>
        <p:spPr>
          <a:xfrm>
            <a:off x="395536" y="2276872"/>
            <a:ext cx="6986735" cy="13208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Многоуровневая модель качества ПО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качества ПО (ИСО 9162)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Модель качества для описания внутреннего и внешнего качества ПО  представляет собой многоуровневую модель.</a:t>
            </a:r>
          </a:p>
          <a:p>
            <a:r>
              <a:rPr lang="ru-RU" sz="2000" dirty="0"/>
              <a:t>На верхнем уровне выделено 6 основных характеристик качества ПО.</a:t>
            </a:r>
          </a:p>
          <a:p>
            <a:r>
              <a:rPr lang="ru-RU" sz="2000" dirty="0"/>
              <a:t> Каждая характеристика описывается при помощи нескольких входящих в нее атрибутов.</a:t>
            </a:r>
          </a:p>
          <a:p>
            <a:r>
              <a:rPr lang="ru-RU" sz="2000" dirty="0"/>
              <a:t>Атрибут - это сущность, которая может быть проверена или измерена в программном продукте. Для каждого атрибута определяется набор метрик, позволяющих его оценить.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характеристик качества ПО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599" y="2160590"/>
            <a:ext cx="6347714" cy="388077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/>
              <a:t>состоит из нескольких видов атрибутов качества:</a:t>
            </a:r>
          </a:p>
          <a:p>
            <a:r>
              <a:rPr lang="ru-RU" sz="2000" b="1" dirty="0"/>
              <a:t>внутренние атрибуты качества </a:t>
            </a:r>
            <a:r>
              <a:rPr lang="ru-RU" sz="2000" dirty="0"/>
              <a:t>(требования к качеству кода и внутренней архитектуре); </a:t>
            </a:r>
          </a:p>
          <a:p>
            <a:pPr lvl="0"/>
            <a:r>
              <a:rPr lang="ru-RU" sz="2000" b="1" dirty="0"/>
              <a:t>внешние атрибуты качества </a:t>
            </a:r>
            <a:r>
              <a:rPr lang="ru-RU" sz="2000" dirty="0"/>
              <a:t>(требования к функциональным возможностям и т.д.); </a:t>
            </a:r>
          </a:p>
          <a:p>
            <a:pPr lvl="0"/>
            <a:r>
              <a:rPr lang="ru-RU" sz="2000" b="1" dirty="0"/>
              <a:t>атрибуты «качества в использовании» </a:t>
            </a:r>
            <a:r>
              <a:rPr lang="ru-RU" sz="2000" dirty="0"/>
              <a:t>(данные атрибуты качества относятся ко всей ИС,  характеризуют эффект для пользователя от использования ПС в разных контекстах использования.)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качества ПО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599" y="1628800"/>
            <a:ext cx="6347714" cy="44125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000" dirty="0"/>
              <a:t>имеет следующие четыре уровня представления:</a:t>
            </a:r>
            <a:br>
              <a:rPr lang="ru-RU" sz="2000" dirty="0"/>
            </a:br>
            <a:endParaRPr lang="ru-RU" sz="2000" dirty="0"/>
          </a:p>
          <a:p>
            <a:r>
              <a:rPr lang="ru-RU" sz="2000" b="1" dirty="0"/>
              <a:t>Первый уровень</a:t>
            </a:r>
            <a:r>
              <a:rPr lang="ru-RU" sz="2000" dirty="0"/>
              <a:t> соответствует определению характеристик (показателей) качества ПО:</a:t>
            </a:r>
          </a:p>
          <a:p>
            <a:endParaRPr lang="ru-RU" sz="2000" dirty="0"/>
          </a:p>
          <a:p>
            <a:pPr lvl="1"/>
            <a:r>
              <a:rPr lang="ru-RU" sz="2000" dirty="0"/>
              <a:t>функциональность (</a:t>
            </a:r>
            <a:r>
              <a:rPr lang="ru-RU" sz="2000" dirty="0" err="1"/>
              <a:t>functionality</a:t>
            </a:r>
            <a:r>
              <a:rPr lang="ru-RU" sz="2000" dirty="0"/>
              <a:t>); </a:t>
            </a:r>
          </a:p>
          <a:p>
            <a:pPr lvl="1"/>
            <a:r>
              <a:rPr lang="ru-RU" sz="2000" dirty="0"/>
              <a:t>надежность (</a:t>
            </a:r>
            <a:r>
              <a:rPr lang="ru-RU" sz="2000" dirty="0" err="1"/>
              <a:t>realibility</a:t>
            </a:r>
            <a:r>
              <a:rPr lang="ru-RU" sz="2000" dirty="0"/>
              <a:t>); </a:t>
            </a:r>
          </a:p>
          <a:p>
            <a:pPr lvl="1"/>
            <a:r>
              <a:rPr lang="ru-RU" sz="2000" dirty="0"/>
              <a:t>удобство (</a:t>
            </a:r>
            <a:r>
              <a:rPr lang="ru-RU" sz="2000" dirty="0" err="1"/>
              <a:t>usability</a:t>
            </a:r>
            <a:r>
              <a:rPr lang="ru-RU" sz="2000" dirty="0"/>
              <a:t>); </a:t>
            </a:r>
          </a:p>
          <a:p>
            <a:pPr lvl="1"/>
            <a:r>
              <a:rPr lang="ru-RU" sz="2000" dirty="0"/>
              <a:t>эффективность (</a:t>
            </a:r>
            <a:r>
              <a:rPr lang="ru-RU" sz="2000" dirty="0" err="1"/>
              <a:t>efficiency</a:t>
            </a:r>
            <a:r>
              <a:rPr lang="ru-RU" sz="2000" dirty="0"/>
              <a:t>); </a:t>
            </a:r>
          </a:p>
          <a:p>
            <a:pPr lvl="1"/>
            <a:r>
              <a:rPr lang="ru-RU" sz="2000" dirty="0" err="1"/>
              <a:t>сопровождаемость</a:t>
            </a:r>
            <a:r>
              <a:rPr lang="ru-RU" sz="2000" dirty="0"/>
              <a:t> (</a:t>
            </a:r>
            <a:r>
              <a:rPr lang="ru-RU" sz="2000" dirty="0" err="1"/>
              <a:t>maitainnability</a:t>
            </a:r>
            <a:r>
              <a:rPr lang="ru-RU" sz="2000" dirty="0"/>
              <a:t>); </a:t>
            </a:r>
          </a:p>
          <a:p>
            <a:pPr lvl="1"/>
            <a:r>
              <a:rPr lang="ru-RU" sz="2000" dirty="0"/>
              <a:t>переносимость (</a:t>
            </a:r>
            <a:r>
              <a:rPr lang="ru-RU" sz="2000" dirty="0" err="1"/>
              <a:t>portability</a:t>
            </a:r>
            <a:r>
              <a:rPr lang="ru-RU" sz="2000" dirty="0"/>
              <a:t>).</a:t>
            </a:r>
          </a:p>
          <a:p>
            <a:endParaRPr lang="ru-RU" sz="2000" dirty="0"/>
          </a:p>
          <a:p>
            <a:endParaRPr lang="ru-RU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Второй уровень</a:t>
            </a:r>
            <a:r>
              <a:rPr lang="ru-RU" dirty="0"/>
              <a:t>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Ему соответствуют атрибуты для каждой характеристики качества, которые детализируют разные аспекты конкретной характеристики. Набор атрибутов характеристик качества используется при оценке качества.</a:t>
            </a:r>
            <a:br>
              <a:rPr lang="ru-RU" sz="2000" dirty="0"/>
            </a:br>
            <a:endParaRPr lang="ru-RU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Третий уровень</a:t>
            </a:r>
            <a:r>
              <a:rPr lang="ru-RU" dirty="0"/>
              <a:t>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599" y="1484784"/>
            <a:ext cx="6347714" cy="4824536"/>
          </a:xfrm>
        </p:spPr>
        <p:txBody>
          <a:bodyPr>
            <a:noAutofit/>
          </a:bodyPr>
          <a:lstStyle/>
          <a:p>
            <a:r>
              <a:rPr lang="ru-RU" sz="2000" dirty="0">
                <a:solidFill>
                  <a:srgbClr val="C00000"/>
                </a:solidFill>
              </a:rPr>
              <a:t>предназначен для измерения качества с помощью метрик, каждая из них согласно стандарту определяется как комбинация метода измерения атрибута и шкалы измерения значений атрибутов. </a:t>
            </a:r>
          </a:p>
          <a:p>
            <a:r>
              <a:rPr lang="ru-RU" sz="2000" dirty="0"/>
              <a:t>Для оценки атрибутов качества на этапах ЖЦ (при просмотре документации, программ и результатов тестирования программ) используются метрики с заданным оценочным весом для нивелирования результатов метрического анализа совокупных атрибутов конкретного показателя и качества в целом. </a:t>
            </a:r>
          </a:p>
          <a:p>
            <a:r>
              <a:rPr lang="ru-RU" sz="2000" dirty="0">
                <a:solidFill>
                  <a:srgbClr val="C00000"/>
                </a:solidFill>
              </a:rPr>
              <a:t>Атрибут качества определяется с помощью одной или нескольких методик оценки на этапах ЖЦ и на завершающем этапе разработки ПО.</a:t>
            </a:r>
            <a:br>
              <a:rPr lang="ru-RU" sz="2000" dirty="0">
                <a:solidFill>
                  <a:srgbClr val="C00000"/>
                </a:solidFill>
              </a:rPr>
            </a:br>
            <a:endParaRPr lang="ru-RU" sz="2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Четвертый уровень</a:t>
            </a:r>
            <a:r>
              <a:rPr lang="ru-RU" dirty="0"/>
              <a:t>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- это оценочный элемент метрики (вес), который используется для оценки количественного или качественного значения отдельного атрибута показателя ПО. </a:t>
            </a:r>
          </a:p>
          <a:p>
            <a:r>
              <a:rPr lang="ru-RU" sz="2000" dirty="0"/>
              <a:t>В зависимости от назначения, особенностей и условий сопровождения ПО выбираются наиболее важные характеристики качества и их атрибуты </a:t>
            </a:r>
            <a:br>
              <a:rPr lang="ru-RU" sz="2000" dirty="0"/>
            </a:br>
            <a:endParaRPr lang="ru-RU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599" y="404664"/>
            <a:ext cx="6482681" cy="1320800"/>
          </a:xfrm>
        </p:spPr>
        <p:txBody>
          <a:bodyPr>
            <a:normAutofit/>
          </a:bodyPr>
          <a:lstStyle/>
          <a:p>
            <a:r>
              <a:rPr lang="ru-RU" dirty="0"/>
              <a:t>Функциональность (</a:t>
            </a:r>
            <a:r>
              <a:rPr lang="ru-RU" dirty="0" err="1"/>
              <a:t>functionality</a:t>
            </a:r>
            <a:r>
              <a:rPr lang="ru-RU" dirty="0"/>
              <a:t>)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83567" y="1844824"/>
            <a:ext cx="6273745" cy="4608512"/>
          </a:xfrm>
        </p:spPr>
        <p:txBody>
          <a:bodyPr>
            <a:normAutofit fontScale="77500" lnSpcReduction="20000"/>
          </a:bodyPr>
          <a:lstStyle/>
          <a:p>
            <a:pPr lvl="0" algn="ctr">
              <a:buNone/>
            </a:pPr>
            <a:r>
              <a:rPr lang="ru-RU" sz="2400" dirty="0">
                <a:solidFill>
                  <a:schemeClr val="tx1"/>
                </a:solidFill>
              </a:rPr>
              <a:t>Способность ПО в определенных условиях решать задачи, нужные пользователям. Определяет, что именно делает ПО, какие задачи оно решает.</a:t>
            </a:r>
            <a:endParaRPr lang="ru-RU" dirty="0"/>
          </a:p>
          <a:p>
            <a:pPr lvl="1"/>
            <a:r>
              <a:rPr lang="ru-RU" sz="2100" dirty="0">
                <a:solidFill>
                  <a:srgbClr val="0070C0"/>
                </a:solidFill>
              </a:rPr>
              <a:t>Функциональная пригодность </a:t>
            </a:r>
            <a:r>
              <a:rPr lang="ru-RU" sz="2100" dirty="0"/>
              <a:t>(</a:t>
            </a:r>
            <a:r>
              <a:rPr lang="ru-RU" sz="2100" dirty="0" err="1"/>
              <a:t>suitability</a:t>
            </a:r>
            <a:r>
              <a:rPr lang="ru-RU" sz="2100" dirty="0"/>
              <a:t>). - Способность решать нужный набор задач.</a:t>
            </a:r>
          </a:p>
          <a:p>
            <a:pPr lvl="1"/>
            <a:r>
              <a:rPr lang="ru-RU" sz="2100" dirty="0">
                <a:solidFill>
                  <a:srgbClr val="0070C0"/>
                </a:solidFill>
              </a:rPr>
              <a:t>Точность</a:t>
            </a:r>
            <a:r>
              <a:rPr lang="ru-RU" sz="2100" dirty="0"/>
              <a:t> (</a:t>
            </a:r>
            <a:r>
              <a:rPr lang="ru-RU" sz="2100" dirty="0" err="1"/>
              <a:t>accuracy</a:t>
            </a:r>
            <a:r>
              <a:rPr lang="ru-RU" sz="2100" dirty="0"/>
              <a:t>). - Способность выдавать нужные результаты.</a:t>
            </a:r>
          </a:p>
          <a:p>
            <a:pPr lvl="1"/>
            <a:r>
              <a:rPr lang="ru-RU" sz="2100" dirty="0">
                <a:solidFill>
                  <a:srgbClr val="0070C0"/>
                </a:solidFill>
              </a:rPr>
              <a:t>Способность к взаимодействию </a:t>
            </a:r>
            <a:r>
              <a:rPr lang="ru-RU" sz="2100" dirty="0"/>
              <a:t>(</a:t>
            </a:r>
            <a:r>
              <a:rPr lang="ru-RU" sz="2100" dirty="0" err="1"/>
              <a:t>interoperability</a:t>
            </a:r>
            <a:r>
              <a:rPr lang="ru-RU" sz="2100" dirty="0"/>
              <a:t>). - Способность взаимодействовать с нужным набором других систем.</a:t>
            </a:r>
          </a:p>
          <a:p>
            <a:pPr lvl="1"/>
            <a:r>
              <a:rPr lang="ru-RU" sz="2100" dirty="0">
                <a:solidFill>
                  <a:srgbClr val="0070C0"/>
                </a:solidFill>
              </a:rPr>
              <a:t>Соответствие стандартам и правилам </a:t>
            </a:r>
            <a:r>
              <a:rPr lang="ru-RU" sz="2100" dirty="0"/>
              <a:t>(</a:t>
            </a:r>
            <a:r>
              <a:rPr lang="ru-RU" sz="2100" dirty="0" err="1"/>
              <a:t>compliance</a:t>
            </a:r>
            <a:r>
              <a:rPr lang="ru-RU" sz="2100" dirty="0"/>
              <a:t>). - Соответствие ПО имеющимся индустриальным стандартам, нормативным и законодательным актам, другим регулирующим нормам.</a:t>
            </a:r>
          </a:p>
          <a:p>
            <a:pPr lvl="1"/>
            <a:r>
              <a:rPr lang="ru-RU" sz="2100" dirty="0">
                <a:solidFill>
                  <a:srgbClr val="0070C0"/>
                </a:solidFill>
              </a:rPr>
              <a:t>Защищенность</a:t>
            </a:r>
            <a:r>
              <a:rPr lang="ru-RU" sz="2100" dirty="0"/>
              <a:t> (</a:t>
            </a:r>
            <a:r>
              <a:rPr lang="ru-RU" sz="2100" dirty="0" err="1"/>
              <a:t>security</a:t>
            </a:r>
            <a:r>
              <a:rPr lang="ru-RU" sz="2100" dirty="0"/>
              <a:t>). - Способность предотвращать неавторизированный, т.е. без указания лица, пытающегося его осуществить, и неразрешенный доступ к данным и программам.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31168"/>
          </a:xfrm>
        </p:spPr>
        <p:txBody>
          <a:bodyPr>
            <a:normAutofit/>
          </a:bodyPr>
          <a:lstStyle/>
          <a:p>
            <a:pPr lvl="0"/>
            <a:r>
              <a:rPr lang="ru-RU" dirty="0"/>
              <a:t>Надежность (</a:t>
            </a:r>
            <a:r>
              <a:rPr lang="ru-RU" dirty="0" err="1"/>
              <a:t>reliability</a:t>
            </a:r>
            <a:r>
              <a:rPr lang="ru-RU" dirty="0"/>
              <a:t>)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20448" y="1488613"/>
            <a:ext cx="6347714" cy="5036731"/>
          </a:xfrm>
        </p:spPr>
        <p:txBody>
          <a:bodyPr>
            <a:normAutofit fontScale="92500" lnSpcReduction="10000"/>
          </a:bodyPr>
          <a:lstStyle/>
          <a:p>
            <a:pPr lvl="0" algn="ctr">
              <a:buNone/>
            </a:pPr>
            <a:r>
              <a:rPr lang="ru-RU" sz="2400" dirty="0">
                <a:solidFill>
                  <a:schemeClr val="tx1"/>
                </a:solidFill>
              </a:rPr>
              <a:t>Способность ПО поддерживать определенную работоспособность в заданных условиях.</a:t>
            </a:r>
          </a:p>
          <a:p>
            <a:r>
              <a:rPr lang="ru-RU" dirty="0">
                <a:solidFill>
                  <a:srgbClr val="0070C0"/>
                </a:solidFill>
              </a:rPr>
              <a:t>Зрелость, завершенность </a:t>
            </a:r>
            <a:r>
              <a:rPr lang="ru-RU" dirty="0"/>
              <a:t>(</a:t>
            </a:r>
            <a:r>
              <a:rPr lang="ru-RU" dirty="0" err="1"/>
              <a:t>maturity</a:t>
            </a:r>
            <a:r>
              <a:rPr lang="ru-RU" dirty="0"/>
              <a:t>). - Величина, обратная частоте отказов ПО. Обычно измеряется средним временем работы без сбоев и величиной, обратной вероятности возникновения отказа за данный период времени.</a:t>
            </a:r>
          </a:p>
          <a:p>
            <a:pPr lvl="0"/>
            <a:r>
              <a:rPr lang="ru-RU" dirty="0">
                <a:solidFill>
                  <a:srgbClr val="0070C0"/>
                </a:solidFill>
              </a:rPr>
              <a:t>Устойчивость к отказам </a:t>
            </a:r>
            <a:r>
              <a:rPr lang="ru-RU" dirty="0"/>
              <a:t>(</a:t>
            </a:r>
            <a:r>
              <a:rPr lang="ru-RU" dirty="0" err="1"/>
              <a:t>fault</a:t>
            </a:r>
            <a:r>
              <a:rPr lang="ru-RU" dirty="0"/>
              <a:t> </a:t>
            </a:r>
            <a:r>
              <a:rPr lang="ru-RU" dirty="0" err="1"/>
              <a:t>tolerance</a:t>
            </a:r>
            <a:r>
              <a:rPr lang="ru-RU" dirty="0"/>
              <a:t>). - Способность поддерживать заданный уровень работоспособности при отказах и нарушениях правил взаимодействия с окружением.</a:t>
            </a:r>
          </a:p>
          <a:p>
            <a:pPr lvl="0"/>
            <a:r>
              <a:rPr lang="ru-RU" dirty="0">
                <a:solidFill>
                  <a:srgbClr val="0070C0"/>
                </a:solidFill>
              </a:rPr>
              <a:t>Способность к восстановлению </a:t>
            </a:r>
            <a:r>
              <a:rPr lang="ru-RU" dirty="0"/>
              <a:t>(</a:t>
            </a:r>
            <a:r>
              <a:rPr lang="ru-RU" dirty="0" err="1"/>
              <a:t>recoverability</a:t>
            </a:r>
            <a:r>
              <a:rPr lang="ru-RU" dirty="0"/>
              <a:t>). - Способность восстанавливать определенный уровень работоспособности и целостность данных после отказа, необходимые для этого время и ресурсы.</a:t>
            </a:r>
          </a:p>
          <a:p>
            <a:pPr lvl="0"/>
            <a:r>
              <a:rPr lang="ru-RU" dirty="0">
                <a:solidFill>
                  <a:srgbClr val="0070C0"/>
                </a:solidFill>
              </a:rPr>
              <a:t>Соответствие стандартам надежности </a:t>
            </a:r>
            <a:r>
              <a:rPr lang="ru-RU" dirty="0"/>
              <a:t>(</a:t>
            </a:r>
            <a:r>
              <a:rPr lang="ru-RU" dirty="0" err="1"/>
              <a:t>reliability</a:t>
            </a:r>
            <a:r>
              <a:rPr lang="ru-RU" dirty="0"/>
              <a:t> </a:t>
            </a:r>
            <a:r>
              <a:rPr lang="ru-RU" dirty="0" err="1"/>
              <a:t>compliance</a:t>
            </a:r>
            <a:r>
              <a:rPr lang="ru-RU" dirty="0"/>
              <a:t>). - Этот атрибут добавлен в 2001 году.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599" y="260648"/>
            <a:ext cx="6347713" cy="1320800"/>
          </a:xfrm>
        </p:spPr>
        <p:txBody>
          <a:bodyPr>
            <a:normAutofit/>
          </a:bodyPr>
          <a:lstStyle/>
          <a:p>
            <a:r>
              <a:rPr lang="ru-RU" dirty="0"/>
              <a:t>Удобство применения (</a:t>
            </a:r>
            <a:r>
              <a:rPr lang="ru-RU" dirty="0" err="1"/>
              <a:t>usability</a:t>
            </a:r>
            <a:r>
              <a:rPr lang="ru-RU" dirty="0"/>
              <a:t>) или практичность.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599" y="1616214"/>
            <a:ext cx="6347714" cy="4981138"/>
          </a:xfrm>
        </p:spPr>
        <p:txBody>
          <a:bodyPr>
            <a:normAutofit fontScale="85000" lnSpcReduction="10000"/>
          </a:bodyPr>
          <a:lstStyle/>
          <a:p>
            <a:pPr lvl="1" algn="ctr">
              <a:buNone/>
            </a:pPr>
            <a:r>
              <a:rPr lang="ru-RU" sz="2400" dirty="0">
                <a:solidFill>
                  <a:schemeClr val="tx1"/>
                </a:solidFill>
              </a:rPr>
              <a:t> Способность ПО быть удобным в обучении и использовании, а также привлекательным для пользователей.</a:t>
            </a:r>
          </a:p>
          <a:p>
            <a:pPr lvl="0"/>
            <a:r>
              <a:rPr lang="ru-RU" sz="1900" dirty="0">
                <a:solidFill>
                  <a:srgbClr val="0070C0"/>
                </a:solidFill>
              </a:rPr>
              <a:t>Понятность</a:t>
            </a:r>
            <a:r>
              <a:rPr lang="ru-RU" sz="1900" dirty="0"/>
              <a:t> (</a:t>
            </a:r>
            <a:r>
              <a:rPr lang="ru-RU" sz="1900" dirty="0" err="1"/>
              <a:t>understandability</a:t>
            </a:r>
            <a:r>
              <a:rPr lang="ru-RU" sz="1900" dirty="0"/>
              <a:t>). - Показатель, обратный к усилиям, которые затрачиваются пользователями на восприятие основных понятий ПО и осознание их применимости для решения своих задач.</a:t>
            </a:r>
          </a:p>
          <a:p>
            <a:pPr lvl="0"/>
            <a:r>
              <a:rPr lang="ru-RU" sz="1900" dirty="0">
                <a:solidFill>
                  <a:srgbClr val="0070C0"/>
                </a:solidFill>
              </a:rPr>
              <a:t>Удобство обучения </a:t>
            </a:r>
            <a:r>
              <a:rPr lang="ru-RU" sz="1900" dirty="0"/>
              <a:t>(</a:t>
            </a:r>
            <a:r>
              <a:rPr lang="ru-RU" sz="1900" dirty="0" err="1"/>
              <a:t>learn</a:t>
            </a:r>
            <a:r>
              <a:rPr lang="ru-RU" sz="1900" dirty="0"/>
              <a:t> </a:t>
            </a:r>
            <a:r>
              <a:rPr lang="ru-RU" sz="1900" dirty="0" err="1"/>
              <a:t>ability</a:t>
            </a:r>
            <a:r>
              <a:rPr lang="ru-RU" sz="1900" dirty="0"/>
              <a:t>). - Показатель, обратный усилиям, затрачиваемым пользователями на обучение работе с ПО.</a:t>
            </a:r>
          </a:p>
          <a:p>
            <a:pPr lvl="0"/>
            <a:r>
              <a:rPr lang="ru-RU" sz="1900" dirty="0">
                <a:solidFill>
                  <a:srgbClr val="0070C0"/>
                </a:solidFill>
              </a:rPr>
              <a:t>Удобство работы </a:t>
            </a:r>
            <a:r>
              <a:rPr lang="ru-RU" sz="1900" dirty="0"/>
              <a:t>(</a:t>
            </a:r>
            <a:r>
              <a:rPr lang="ru-RU" sz="1900" dirty="0" err="1"/>
              <a:t>operability</a:t>
            </a:r>
            <a:r>
              <a:rPr lang="ru-RU" sz="1900" dirty="0"/>
              <a:t>). - Показатель, обратный усилиям, предпринимаемым пользователями для решения своих задач с помощью ПО.</a:t>
            </a:r>
          </a:p>
          <a:p>
            <a:pPr lvl="0"/>
            <a:r>
              <a:rPr lang="ru-RU" sz="1900" dirty="0">
                <a:solidFill>
                  <a:srgbClr val="0070C0"/>
                </a:solidFill>
              </a:rPr>
              <a:t>Привлекательность</a:t>
            </a:r>
            <a:r>
              <a:rPr lang="ru-RU" sz="1900" dirty="0"/>
              <a:t> (</a:t>
            </a:r>
            <a:r>
              <a:rPr lang="ru-RU" sz="1900" dirty="0" err="1"/>
              <a:t>attractiveness</a:t>
            </a:r>
            <a:r>
              <a:rPr lang="ru-RU" sz="1900" dirty="0"/>
              <a:t>). - Способность ПО быть привлекательным для пользователей. Этот атрибут добавлен в 2001 году.</a:t>
            </a:r>
          </a:p>
          <a:p>
            <a:pPr lvl="0"/>
            <a:r>
              <a:rPr lang="ru-RU" sz="1900" dirty="0">
                <a:solidFill>
                  <a:srgbClr val="0070C0"/>
                </a:solidFill>
              </a:rPr>
              <a:t>Соответствие стандартам </a:t>
            </a:r>
            <a:r>
              <a:rPr lang="ru-RU" sz="1900" dirty="0"/>
              <a:t>удобства использования (</a:t>
            </a:r>
            <a:r>
              <a:rPr lang="ru-RU" sz="1900" dirty="0" err="1"/>
              <a:t>usability</a:t>
            </a:r>
            <a:r>
              <a:rPr lang="ru-RU" sz="1900" dirty="0"/>
              <a:t> </a:t>
            </a:r>
            <a:r>
              <a:rPr lang="ru-RU" sz="1900" dirty="0" err="1"/>
              <a:t>compliance</a:t>
            </a:r>
            <a:r>
              <a:rPr lang="ru-RU" sz="1900" dirty="0"/>
              <a:t>). - Этот атрибут добавлен в 2001 году.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598" y="332656"/>
            <a:ext cx="6347713" cy="1091208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Производительность (</a:t>
            </a:r>
            <a:r>
              <a:rPr lang="ru-RU" dirty="0" err="1"/>
              <a:t>efficiency</a:t>
            </a:r>
            <a:r>
              <a:rPr lang="ru-RU" dirty="0"/>
              <a:t>) или эффективность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598" y="1488613"/>
            <a:ext cx="6347714" cy="5108739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lang="ru-RU" dirty="0">
                <a:solidFill>
                  <a:schemeClr val="tx1"/>
                </a:solidFill>
              </a:rPr>
              <a:t>Способность ПО при заданных условиях обеспечивать необходимую работоспособность по отношению к выделяемым для этого ресурсам</a:t>
            </a:r>
          </a:p>
          <a:p>
            <a:r>
              <a:rPr lang="ru-RU" sz="2000" dirty="0"/>
              <a:t>Временная эффективность (</a:t>
            </a:r>
            <a:r>
              <a:rPr lang="ru-RU" sz="2000" dirty="0" err="1"/>
              <a:t>time</a:t>
            </a:r>
            <a:r>
              <a:rPr lang="ru-RU" sz="2000" dirty="0"/>
              <a:t> </a:t>
            </a:r>
            <a:r>
              <a:rPr lang="ru-RU" sz="2000" dirty="0" err="1"/>
              <a:t>behavior</a:t>
            </a:r>
            <a:r>
              <a:rPr lang="ru-RU" sz="2000" dirty="0"/>
              <a:t>). -Способность ПО выдавать ожидаемые результаты, а также обеспечивать передачу необходимого объема данных за отведенное время.</a:t>
            </a:r>
          </a:p>
          <a:p>
            <a:r>
              <a:rPr lang="ru-RU" sz="2000" dirty="0"/>
              <a:t>Эффективность использования ресурсов (</a:t>
            </a:r>
            <a:r>
              <a:rPr lang="ru-RU" sz="2000" dirty="0" err="1"/>
              <a:t>resource</a:t>
            </a:r>
            <a:r>
              <a:rPr lang="ru-RU" sz="2000" dirty="0"/>
              <a:t> </a:t>
            </a:r>
            <a:r>
              <a:rPr lang="ru-RU" sz="2000" dirty="0" err="1"/>
              <a:t>utilization</a:t>
            </a:r>
            <a:r>
              <a:rPr lang="ru-RU" sz="2000" dirty="0"/>
              <a:t>). - Способность решать нужные задачи с использованием определенных объемов ресурсов определенных видов. Имеются в виду такие ресурсы, как оперативная и долговременная память, сетевые соединения, устройства ввода и вывода и пр.</a:t>
            </a:r>
          </a:p>
          <a:p>
            <a:r>
              <a:rPr lang="ru-RU" sz="2000" dirty="0"/>
              <a:t>Соответствие стандартам производительности (</a:t>
            </a:r>
            <a:r>
              <a:rPr lang="ru-RU" sz="2000" dirty="0" err="1"/>
              <a:t>efficiency</a:t>
            </a:r>
            <a:r>
              <a:rPr lang="ru-RU" sz="2000" dirty="0"/>
              <a:t> </a:t>
            </a:r>
            <a:r>
              <a:rPr lang="ru-RU" sz="2000" dirty="0" err="1"/>
              <a:t>compliance</a:t>
            </a:r>
            <a:r>
              <a:rPr lang="ru-RU" sz="2000" dirty="0"/>
              <a:t>). - Этот атрибут добавлен в 2001 году.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4935" y="286532"/>
            <a:ext cx="6347713" cy="1320800"/>
          </a:xfrm>
        </p:spPr>
        <p:txBody>
          <a:bodyPr>
            <a:normAutofit/>
          </a:bodyPr>
          <a:lstStyle/>
          <a:p>
            <a:r>
              <a:rPr lang="ru-RU" dirty="0"/>
              <a:t>Удобство сопровождения (</a:t>
            </a:r>
            <a:r>
              <a:rPr lang="ru-RU" dirty="0" err="1"/>
              <a:t>maintainability</a:t>
            </a:r>
            <a:r>
              <a:rPr lang="ru-RU" dirty="0"/>
              <a:t>) 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599" y="1700808"/>
            <a:ext cx="6347713" cy="4896544"/>
          </a:xfrm>
        </p:spPr>
        <p:txBody>
          <a:bodyPr>
            <a:normAutofit fontScale="62500" lnSpcReduction="20000"/>
          </a:bodyPr>
          <a:lstStyle/>
          <a:p>
            <a:pPr marL="144000" lvl="3" algn="ctr">
              <a:buNone/>
            </a:pPr>
            <a:r>
              <a:rPr lang="ru-RU" sz="2200" dirty="0">
                <a:solidFill>
                  <a:schemeClr val="tx1"/>
                </a:solidFill>
              </a:rPr>
              <a:t>		</a:t>
            </a:r>
            <a:r>
              <a:rPr lang="ru-RU" sz="2600" dirty="0">
                <a:solidFill>
                  <a:schemeClr val="tx1"/>
                </a:solidFill>
              </a:rPr>
              <a:t>Удобство проведения всех видов деятельности, связанных с сопровождение программ</a:t>
            </a:r>
          </a:p>
          <a:p>
            <a:pPr>
              <a:buFont typeface="Wingdings" pitchFamily="2" charset="2"/>
              <a:buChar char="Ø"/>
            </a:pPr>
            <a:r>
              <a:rPr lang="ru-RU" sz="2600" dirty="0" err="1"/>
              <a:t>Анализируемость</a:t>
            </a:r>
            <a:r>
              <a:rPr lang="ru-RU" sz="2600" dirty="0"/>
              <a:t> (</a:t>
            </a:r>
            <a:r>
              <a:rPr lang="ru-RU" sz="2600" dirty="0" err="1"/>
              <a:t>analyzability</a:t>
            </a:r>
            <a:r>
              <a:rPr lang="ru-RU" sz="2600" dirty="0"/>
              <a:t>) или удобство проведения анализа. - Удобство проведения анализа ошибок, дефектов и недостатков, а также удобство анализа необходимости изменений и их возможных последствий.</a:t>
            </a:r>
          </a:p>
          <a:p>
            <a:pPr>
              <a:buFont typeface="Wingdings" pitchFamily="2" charset="2"/>
              <a:buChar char="Ø"/>
            </a:pPr>
            <a:r>
              <a:rPr lang="ru-RU" sz="2600" dirty="0"/>
              <a:t>Удобство внесения изменений (</a:t>
            </a:r>
            <a:r>
              <a:rPr lang="ru-RU" sz="2600" dirty="0" err="1"/>
              <a:t>changeability</a:t>
            </a:r>
            <a:r>
              <a:rPr lang="ru-RU" sz="2600" dirty="0"/>
              <a:t>). - Показатель, обратный трудозатратам на выполнение необходимых изменений.</a:t>
            </a:r>
          </a:p>
          <a:p>
            <a:pPr>
              <a:buFont typeface="Wingdings" pitchFamily="2" charset="2"/>
              <a:buChar char="Ø"/>
            </a:pPr>
            <a:r>
              <a:rPr lang="ru-RU" sz="2600" dirty="0"/>
              <a:t>Стабильность (</a:t>
            </a:r>
            <a:r>
              <a:rPr lang="ru-RU" sz="2600" dirty="0" err="1"/>
              <a:t>stability</a:t>
            </a:r>
            <a:r>
              <a:rPr lang="ru-RU" sz="2600" dirty="0"/>
              <a:t>). - Показатель, обратный риску возникновения неожиданных эффектов при внесении необходимых изменений.</a:t>
            </a:r>
          </a:p>
          <a:p>
            <a:pPr>
              <a:buFont typeface="Wingdings" pitchFamily="2" charset="2"/>
              <a:buChar char="Ø"/>
            </a:pPr>
            <a:r>
              <a:rPr lang="ru-RU" sz="2600" dirty="0"/>
              <a:t>Удобство проверки (</a:t>
            </a:r>
            <a:r>
              <a:rPr lang="ru-RU" sz="2600" dirty="0" err="1"/>
              <a:t>testability</a:t>
            </a:r>
            <a:r>
              <a:rPr lang="ru-RU" sz="2600" dirty="0"/>
              <a:t>). - Показатель, обратный трудозатратам на проведение тестирования и других видов проверки того, что внесенные изменения привели к нужным результатам.</a:t>
            </a:r>
          </a:p>
          <a:p>
            <a:pPr>
              <a:buFont typeface="Wingdings" pitchFamily="2" charset="2"/>
              <a:buChar char="Ø"/>
            </a:pPr>
            <a:r>
              <a:rPr lang="ru-RU" sz="2600" dirty="0"/>
              <a:t>Соответствие стандартам удобства сопровождения (</a:t>
            </a:r>
            <a:r>
              <a:rPr lang="ru-RU" sz="2600" dirty="0" err="1"/>
              <a:t>maintainability</a:t>
            </a:r>
            <a:r>
              <a:rPr lang="ru-RU" sz="2600" dirty="0"/>
              <a:t> </a:t>
            </a:r>
            <a:r>
              <a:rPr lang="ru-RU" sz="2600" dirty="0" err="1"/>
              <a:t>compliance</a:t>
            </a:r>
            <a:r>
              <a:rPr lang="ru-RU" sz="2600" dirty="0"/>
              <a:t>). - Этот атрибут добавлен в 2001 году.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4799" y="404664"/>
            <a:ext cx="6347713" cy="803176"/>
          </a:xfrm>
        </p:spPr>
        <p:txBody>
          <a:bodyPr/>
          <a:lstStyle/>
          <a:p>
            <a:r>
              <a:rPr lang="ru-RU" dirty="0"/>
              <a:t>Переносимость (</a:t>
            </a:r>
            <a:r>
              <a:rPr lang="ru-RU" dirty="0" err="1"/>
              <a:t>portability</a:t>
            </a:r>
            <a:r>
              <a:rPr lang="ru-RU" dirty="0"/>
              <a:t>)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599" y="1207840"/>
            <a:ext cx="6347714" cy="5533528"/>
          </a:xfrm>
        </p:spPr>
        <p:txBody>
          <a:bodyPr>
            <a:normAutofit fontScale="55000" lnSpcReduction="20000"/>
          </a:bodyPr>
          <a:lstStyle/>
          <a:p>
            <a:pPr marL="0" lvl="1" algn="ctr">
              <a:buNone/>
            </a:pPr>
            <a:r>
              <a:rPr lang="ru-RU" sz="3600" dirty="0">
                <a:solidFill>
                  <a:schemeClr val="tx1"/>
                </a:solidFill>
              </a:rPr>
              <a:t>Способность ПО сохранять работоспособность при переносе из одного окружения в другое, включая организационные, аппаратные и программные аспекты окружения.</a:t>
            </a:r>
          </a:p>
          <a:p>
            <a:r>
              <a:rPr lang="ru-RU" sz="2900" dirty="0" err="1"/>
              <a:t>Адаптируемость</a:t>
            </a:r>
            <a:r>
              <a:rPr lang="ru-RU" sz="2900" dirty="0"/>
              <a:t> (</a:t>
            </a:r>
            <a:r>
              <a:rPr lang="ru-RU" sz="2900" dirty="0" err="1"/>
              <a:t>adaptability</a:t>
            </a:r>
            <a:r>
              <a:rPr lang="ru-RU" sz="2900" dirty="0"/>
              <a:t>). - Способность ПО приспосабливаться различным окружениям без проведения для этого действий, помимо заранее предусмотренных.</a:t>
            </a:r>
          </a:p>
          <a:p>
            <a:r>
              <a:rPr lang="ru-RU" sz="2900" dirty="0"/>
              <a:t>Удобство установки (</a:t>
            </a:r>
            <a:r>
              <a:rPr lang="ru-RU" sz="2900" dirty="0" err="1"/>
              <a:t>install</a:t>
            </a:r>
            <a:r>
              <a:rPr lang="ru-RU" sz="2900" dirty="0"/>
              <a:t> </a:t>
            </a:r>
            <a:r>
              <a:rPr lang="ru-RU" sz="2900" dirty="0" err="1"/>
              <a:t>ability</a:t>
            </a:r>
            <a:r>
              <a:rPr lang="ru-RU" sz="2900" dirty="0"/>
              <a:t>). - Способность ПО быть установленным или развернутым в определенном окружении.</a:t>
            </a:r>
          </a:p>
          <a:p>
            <a:r>
              <a:rPr lang="ru-RU" sz="2900" dirty="0"/>
              <a:t>Способность к сосуществованию (</a:t>
            </a:r>
            <a:r>
              <a:rPr lang="ru-RU" sz="2900" dirty="0" err="1"/>
              <a:t>coexistence</a:t>
            </a:r>
            <a:r>
              <a:rPr lang="ru-RU" sz="2900" dirty="0"/>
              <a:t>). - Способность ПО сосуществовать с другими программами в общем окружении, деля с ними ресурсы.</a:t>
            </a:r>
          </a:p>
          <a:p>
            <a:r>
              <a:rPr lang="ru-RU" sz="2900" dirty="0"/>
              <a:t>Удобство замены (</a:t>
            </a:r>
            <a:r>
              <a:rPr lang="ru-RU" sz="2900" dirty="0" err="1"/>
              <a:t>replace</a:t>
            </a:r>
            <a:r>
              <a:rPr lang="ru-RU" sz="2900" dirty="0"/>
              <a:t> </a:t>
            </a:r>
            <a:r>
              <a:rPr lang="ru-RU" sz="2900" dirty="0" err="1"/>
              <a:t>ability</a:t>
            </a:r>
            <a:r>
              <a:rPr lang="ru-RU" sz="2900" dirty="0"/>
              <a:t>) другого ПО данным. - Возможность применения данного ПО вместо других программных систем для решения тех же задач в определенном окружении.</a:t>
            </a:r>
          </a:p>
          <a:p>
            <a:r>
              <a:rPr lang="ru-RU" sz="2900" dirty="0"/>
              <a:t>Соответствие стандартам переносимости (</a:t>
            </a:r>
            <a:r>
              <a:rPr lang="ru-RU" sz="2900" dirty="0" err="1"/>
              <a:t>portability</a:t>
            </a:r>
            <a:r>
              <a:rPr lang="ru-RU" sz="2900" dirty="0"/>
              <a:t> </a:t>
            </a:r>
            <a:r>
              <a:rPr lang="ru-RU" sz="2900" dirty="0" err="1"/>
              <a:t>compliance</a:t>
            </a:r>
            <a:r>
              <a:rPr lang="ru-RU" sz="2900" dirty="0"/>
              <a:t>). - Этот атрибут добавлен в 2001 году.</a:t>
            </a:r>
          </a:p>
          <a:p>
            <a:pPr>
              <a:buNone/>
            </a:pPr>
            <a:br>
              <a:rPr lang="ru-RU" sz="2800" dirty="0"/>
            </a:b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599" y="1052736"/>
            <a:ext cx="6347713" cy="877664"/>
          </a:xfrm>
        </p:spPr>
        <p:txBody>
          <a:bodyPr/>
          <a:lstStyle/>
          <a:p>
            <a:pPr algn="ctr"/>
            <a:r>
              <a:rPr lang="ru-RU" dirty="0"/>
              <a:t>Заключение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3A047D-56C0-485B-8F48-06B5B17C9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276872"/>
            <a:ext cx="6347714" cy="37644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В данной презентации была рассмотрена многоуровневая модель качества ПО со всеми характеристиками.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202</TotalTime>
  <Words>903</Words>
  <Application>Microsoft Office PowerPoint</Application>
  <PresentationFormat>On-screen Show (4:3)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Trebuchet MS</vt:lpstr>
      <vt:lpstr>Wingdings</vt:lpstr>
      <vt:lpstr>Wingdings 3</vt:lpstr>
      <vt:lpstr>Facet</vt:lpstr>
      <vt:lpstr>PowerPoint Presentation</vt:lpstr>
      <vt:lpstr>Модель качества ПО (ИСО 9162)</vt:lpstr>
      <vt:lpstr>Модель характеристик качества ПО</vt:lpstr>
      <vt:lpstr>Модель качества ПО </vt:lpstr>
      <vt:lpstr>Второй уровень </vt:lpstr>
      <vt:lpstr>Третий уровень </vt:lpstr>
      <vt:lpstr>Четвертый уровень </vt:lpstr>
      <vt:lpstr>Функциональность (functionality) </vt:lpstr>
      <vt:lpstr>Надежность (reliability) </vt:lpstr>
      <vt:lpstr>Удобство применения (usability) или практичность.</vt:lpstr>
      <vt:lpstr>Производительность (efficiency) или эффективность</vt:lpstr>
      <vt:lpstr>Удобство сопровождения (maintainability) </vt:lpstr>
      <vt:lpstr>Переносимость (portability)</vt:lpstr>
      <vt:lpstr>Заключение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Модель качества ПО</dc:title>
  <dc:creator>primer</dc:creator>
  <cp:lastModifiedBy>Mihail Kornilov</cp:lastModifiedBy>
  <cp:revision>24</cp:revision>
  <dcterms:created xsi:type="dcterms:W3CDTF">2018-02-16T13:33:10Z</dcterms:created>
  <dcterms:modified xsi:type="dcterms:W3CDTF">2023-11-28T08:17:36Z</dcterms:modified>
</cp:coreProperties>
</file>